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86" r:id="rId2"/>
    <p:sldId id="278" r:id="rId3"/>
    <p:sldId id="279" r:id="rId4"/>
    <p:sldId id="280" r:id="rId5"/>
    <p:sldId id="281" r:id="rId6"/>
    <p:sldId id="283" r:id="rId7"/>
    <p:sldId id="284" r:id="rId8"/>
    <p:sldId id="285" r:id="rId9"/>
    <p:sldId id="282" r:id="rId10"/>
    <p:sldId id="277" r:id="rId11"/>
    <p:sldId id="289" r:id="rId12"/>
    <p:sldId id="288" r:id="rId13"/>
    <p:sldId id="28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11" autoAdjust="0"/>
    <p:restoredTop sz="94678" autoAdjust="0"/>
  </p:normalViewPr>
  <p:slideViewPr>
    <p:cSldViewPr snapToGrid="0">
      <p:cViewPr varScale="1">
        <p:scale>
          <a:sx n="79" d="100"/>
          <a:sy n="79" d="100"/>
        </p:scale>
        <p:origin x="108" y="167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925515-6AA0-4DE1-85A7-9B34731DE7F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CH"/>
        </a:p>
      </dgm:t>
    </dgm:pt>
    <dgm:pt modelId="{D83F40CE-5698-4EF7-87AD-C63EE244268F}">
      <dgm:prSet custT="1"/>
      <dgm:spPr/>
      <dgm:t>
        <a:bodyPr/>
        <a:lstStyle/>
        <a:p>
          <a:r>
            <a:rPr lang="en-US" sz="1400" dirty="0"/>
            <a:t>I think by the end of year I can get better guessing for under represented groups. Accuracy should be at about 80%. Groups with less than 5 samples (20% of DB) are not expected to be correct (ever).</a:t>
          </a:r>
          <a:endParaRPr lang="en-CH" sz="1400" dirty="0"/>
        </a:p>
      </dgm:t>
    </dgm:pt>
    <dgm:pt modelId="{0F0A33CF-7210-4EF1-A672-A623C34DDD87}" type="parTrans" cxnId="{B8E09419-2C81-4A9C-85DE-ACC727D5B872}">
      <dgm:prSet/>
      <dgm:spPr/>
      <dgm:t>
        <a:bodyPr/>
        <a:lstStyle/>
        <a:p>
          <a:endParaRPr lang="en-CH"/>
        </a:p>
      </dgm:t>
    </dgm:pt>
    <dgm:pt modelId="{3A33C2C4-7506-4BDD-A006-9383DDF67DE1}" type="sibTrans" cxnId="{B8E09419-2C81-4A9C-85DE-ACC727D5B872}">
      <dgm:prSet/>
      <dgm:spPr/>
      <dgm:t>
        <a:bodyPr/>
        <a:lstStyle/>
        <a:p>
          <a:endParaRPr lang="en-CH"/>
        </a:p>
      </dgm:t>
    </dgm:pt>
    <dgm:pt modelId="{D0BE1492-F7B1-45F5-B2F4-93F0DC20F9BA}" type="pres">
      <dgm:prSet presAssocID="{E0925515-6AA0-4DE1-85A7-9B34731DE7F7}" presName="linear" presStyleCnt="0">
        <dgm:presLayoutVars>
          <dgm:animLvl val="lvl"/>
          <dgm:resizeHandles val="exact"/>
        </dgm:presLayoutVars>
      </dgm:prSet>
      <dgm:spPr/>
    </dgm:pt>
    <dgm:pt modelId="{41292066-A55D-4C8A-A2BC-643FAE34FE4A}" type="pres">
      <dgm:prSet presAssocID="{D83F40CE-5698-4EF7-87AD-C63EE244268F}" presName="parentText" presStyleLbl="node1" presStyleIdx="0" presStyleCnt="1">
        <dgm:presLayoutVars>
          <dgm:chMax val="0"/>
          <dgm:bulletEnabled val="1"/>
        </dgm:presLayoutVars>
      </dgm:prSet>
      <dgm:spPr/>
    </dgm:pt>
  </dgm:ptLst>
  <dgm:cxnLst>
    <dgm:cxn modelId="{B8E09419-2C81-4A9C-85DE-ACC727D5B872}" srcId="{E0925515-6AA0-4DE1-85A7-9B34731DE7F7}" destId="{D83F40CE-5698-4EF7-87AD-C63EE244268F}" srcOrd="0" destOrd="0" parTransId="{0F0A33CF-7210-4EF1-A672-A623C34DDD87}" sibTransId="{3A33C2C4-7506-4BDD-A006-9383DDF67DE1}"/>
    <dgm:cxn modelId="{854A1A6B-B39D-4460-8EB5-C2D16EB002ED}" type="presOf" srcId="{D83F40CE-5698-4EF7-87AD-C63EE244268F}" destId="{41292066-A55D-4C8A-A2BC-643FAE34FE4A}" srcOrd="0" destOrd="0" presId="urn:microsoft.com/office/officeart/2005/8/layout/vList2"/>
    <dgm:cxn modelId="{25B5FBF5-65C6-41DD-9438-941E7526F69B}" type="presOf" srcId="{E0925515-6AA0-4DE1-85A7-9B34731DE7F7}" destId="{D0BE1492-F7B1-45F5-B2F4-93F0DC20F9BA}" srcOrd="0" destOrd="0" presId="urn:microsoft.com/office/officeart/2005/8/layout/vList2"/>
    <dgm:cxn modelId="{2D4F1044-AE83-4749-BF66-FD427AEFAB9C}" type="presParOf" srcId="{D0BE1492-F7B1-45F5-B2F4-93F0DC20F9BA}" destId="{41292066-A55D-4C8A-A2BC-643FAE34FE4A}"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292066-A55D-4C8A-A2BC-643FAE34FE4A}">
      <dsp:nvSpPr>
        <dsp:cNvPr id="0" name=""/>
        <dsp:cNvSpPr/>
      </dsp:nvSpPr>
      <dsp:spPr>
        <a:xfrm>
          <a:off x="0" y="1124"/>
          <a:ext cx="5264148" cy="11980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I think by the end of year I can get better guessing for under represented groups. Accuracy should be at about 80%. Groups with less than 5 samples (20% of DB) are not expected to be correct (ever).</a:t>
          </a:r>
          <a:endParaRPr lang="en-CH" sz="1400" kern="1200" dirty="0"/>
        </a:p>
      </dsp:txBody>
      <dsp:txXfrm>
        <a:off x="58485" y="59609"/>
        <a:ext cx="5147178" cy="10811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22D85E-D2FB-42BA-8FC7-836FE23099A3}" type="datetimeFigureOut">
              <a:rPr lang="en-CH" smtClean="0"/>
              <a:t>16.01.2026</a:t>
            </a:fld>
            <a:endParaRPr lang="en-CH"/>
          </a:p>
        </p:txBody>
      </p:sp>
      <p:sp>
        <p:nvSpPr>
          <p:cNvPr id="5" name="Footer Placeholder 4"/>
          <p:cNvSpPr>
            <a:spLocks noGrp="1"/>
          </p:cNvSpPr>
          <p:nvPr>
            <p:ph type="ftr" sz="quarter" idx="11"/>
          </p:nvPr>
        </p:nvSpPr>
        <p:spPr/>
        <p:txBody>
          <a:bodyPr/>
          <a:lstStyle/>
          <a:p>
            <a:endParaRPr lang="en-CH"/>
          </a:p>
        </p:txBody>
      </p:sp>
      <p:sp>
        <p:nvSpPr>
          <p:cNvPr id="6" name="Slide Number Placeholder 5"/>
          <p:cNvSpPr>
            <a:spLocks noGrp="1"/>
          </p:cNvSpPr>
          <p:nvPr>
            <p:ph type="sldNum" sz="quarter" idx="12"/>
          </p:nvPr>
        </p:nvSpPr>
        <p:spPr/>
        <p:txBody>
          <a:bodyPr/>
          <a:lstStyle/>
          <a:p>
            <a:fld id="{4640D8EF-264D-4ACB-83B2-78695A2A739C}" type="slidenum">
              <a:rPr lang="en-CH" smtClean="0"/>
              <a:t>‹#›</a:t>
            </a:fld>
            <a:endParaRPr lang="en-CH"/>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7266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22D85E-D2FB-42BA-8FC7-836FE23099A3}" type="datetimeFigureOut">
              <a:rPr lang="en-CH" smtClean="0"/>
              <a:t>16.01.2026</a:t>
            </a:fld>
            <a:endParaRPr lang="en-CH"/>
          </a:p>
        </p:txBody>
      </p:sp>
      <p:sp>
        <p:nvSpPr>
          <p:cNvPr id="5" name="Footer Placeholder 4"/>
          <p:cNvSpPr>
            <a:spLocks noGrp="1"/>
          </p:cNvSpPr>
          <p:nvPr>
            <p:ph type="ftr" sz="quarter" idx="11"/>
          </p:nvPr>
        </p:nvSpPr>
        <p:spPr/>
        <p:txBody>
          <a:bodyPr/>
          <a:lstStyle/>
          <a:p>
            <a:endParaRPr lang="en-CH"/>
          </a:p>
        </p:txBody>
      </p:sp>
      <p:sp>
        <p:nvSpPr>
          <p:cNvPr id="6" name="Slide Number Placeholder 5"/>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791550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22D85E-D2FB-42BA-8FC7-836FE23099A3}" type="datetimeFigureOut">
              <a:rPr lang="en-CH" smtClean="0"/>
              <a:t>16.01.2026</a:t>
            </a:fld>
            <a:endParaRPr lang="en-CH"/>
          </a:p>
        </p:txBody>
      </p:sp>
      <p:sp>
        <p:nvSpPr>
          <p:cNvPr id="5" name="Footer Placeholder 4"/>
          <p:cNvSpPr>
            <a:spLocks noGrp="1"/>
          </p:cNvSpPr>
          <p:nvPr>
            <p:ph type="ftr" sz="quarter" idx="11"/>
          </p:nvPr>
        </p:nvSpPr>
        <p:spPr/>
        <p:txBody>
          <a:bodyPr/>
          <a:lstStyle/>
          <a:p>
            <a:endParaRPr lang="en-CH"/>
          </a:p>
        </p:txBody>
      </p:sp>
      <p:sp>
        <p:nvSpPr>
          <p:cNvPr id="6" name="Slide Number Placeholder 5"/>
          <p:cNvSpPr>
            <a:spLocks noGrp="1"/>
          </p:cNvSpPr>
          <p:nvPr>
            <p:ph type="sldNum" sz="quarter" idx="12"/>
          </p:nvPr>
        </p:nvSpPr>
        <p:spPr/>
        <p:txBody>
          <a:bodyPr/>
          <a:lstStyle/>
          <a:p>
            <a:fld id="{4640D8EF-264D-4ACB-83B2-78695A2A739C}" type="slidenum">
              <a:rPr lang="en-CH" smtClean="0"/>
              <a:t>‹#›</a:t>
            </a:fld>
            <a:endParaRPr lang="en-CH"/>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2711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22D85E-D2FB-42BA-8FC7-836FE23099A3}" type="datetimeFigureOut">
              <a:rPr lang="en-CH" smtClean="0"/>
              <a:t>16.01.2026</a:t>
            </a:fld>
            <a:endParaRPr lang="en-CH"/>
          </a:p>
        </p:txBody>
      </p:sp>
      <p:sp>
        <p:nvSpPr>
          <p:cNvPr id="6" name="Footer Placeholder 5"/>
          <p:cNvSpPr>
            <a:spLocks noGrp="1"/>
          </p:cNvSpPr>
          <p:nvPr>
            <p:ph type="ftr" sz="quarter" idx="11"/>
          </p:nvPr>
        </p:nvSpPr>
        <p:spPr/>
        <p:txBody>
          <a:bodyPr/>
          <a:lstStyle/>
          <a:p>
            <a:endParaRPr lang="en-CH"/>
          </a:p>
        </p:txBody>
      </p:sp>
      <p:sp>
        <p:nvSpPr>
          <p:cNvPr id="7" name="Slide Number Placeholder 6"/>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2549350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22D85E-D2FB-42BA-8FC7-836FE23099A3}" type="datetimeFigureOut">
              <a:rPr lang="en-CH" smtClean="0"/>
              <a:t>16.01.2026</a:t>
            </a:fld>
            <a:endParaRPr lang="en-CH"/>
          </a:p>
        </p:txBody>
      </p:sp>
      <p:sp>
        <p:nvSpPr>
          <p:cNvPr id="8" name="Footer Placeholder 7"/>
          <p:cNvSpPr>
            <a:spLocks noGrp="1"/>
          </p:cNvSpPr>
          <p:nvPr>
            <p:ph type="ftr" sz="quarter" idx="11"/>
          </p:nvPr>
        </p:nvSpPr>
        <p:spPr/>
        <p:txBody>
          <a:bodyPr/>
          <a:lstStyle/>
          <a:p>
            <a:endParaRPr lang="en-CH"/>
          </a:p>
        </p:txBody>
      </p:sp>
      <p:sp>
        <p:nvSpPr>
          <p:cNvPr id="9" name="Slide Number Placeholder 8"/>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992830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22D85E-D2FB-42BA-8FC7-836FE23099A3}" type="datetimeFigureOut">
              <a:rPr lang="en-CH" smtClean="0"/>
              <a:t>16.01.2026</a:t>
            </a:fld>
            <a:endParaRPr lang="en-CH"/>
          </a:p>
        </p:txBody>
      </p:sp>
      <p:sp>
        <p:nvSpPr>
          <p:cNvPr id="4" name="Footer Placeholder 3"/>
          <p:cNvSpPr>
            <a:spLocks noGrp="1"/>
          </p:cNvSpPr>
          <p:nvPr>
            <p:ph type="ftr" sz="quarter" idx="11"/>
          </p:nvPr>
        </p:nvSpPr>
        <p:spPr/>
        <p:txBody>
          <a:bodyPr/>
          <a:lstStyle/>
          <a:p>
            <a:endParaRPr lang="en-CH"/>
          </a:p>
        </p:txBody>
      </p:sp>
      <p:sp>
        <p:nvSpPr>
          <p:cNvPr id="5" name="Slide Number Placeholder 4"/>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64508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822D85E-D2FB-42BA-8FC7-836FE23099A3}" type="datetimeFigureOut">
              <a:rPr lang="en-CH" smtClean="0"/>
              <a:t>16.01.2026</a:t>
            </a:fld>
            <a:endParaRPr lang="en-CH"/>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CH"/>
          </a:p>
        </p:txBody>
      </p:sp>
      <p:sp>
        <p:nvSpPr>
          <p:cNvPr id="9" name="Slide Number Placeholder 8"/>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2215623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822D85E-D2FB-42BA-8FC7-836FE23099A3}" type="datetimeFigureOut">
              <a:rPr lang="en-CH" smtClean="0"/>
              <a:t>16.01.2026</a:t>
            </a:fld>
            <a:endParaRPr lang="en-CH"/>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CH"/>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640D8EF-264D-4ACB-83B2-78695A2A739C}" type="slidenum">
              <a:rPr lang="en-CH" smtClean="0"/>
              <a:t>‹#›</a:t>
            </a:fld>
            <a:endParaRPr lang="en-CH"/>
          </a:p>
        </p:txBody>
      </p:sp>
    </p:spTree>
    <p:extLst>
      <p:ext uri="{BB962C8B-B14F-4D97-AF65-F5344CB8AC3E}">
        <p14:creationId xmlns:p14="http://schemas.microsoft.com/office/powerpoint/2010/main" val="2822324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22D85E-D2FB-42BA-8FC7-836FE23099A3}" type="datetimeFigureOut">
              <a:rPr lang="en-CH" smtClean="0"/>
              <a:t>16.01.2026</a:t>
            </a:fld>
            <a:endParaRPr lang="en-CH"/>
          </a:p>
        </p:txBody>
      </p:sp>
      <p:sp>
        <p:nvSpPr>
          <p:cNvPr id="6" name="Footer Placeholder 5"/>
          <p:cNvSpPr>
            <a:spLocks noGrp="1"/>
          </p:cNvSpPr>
          <p:nvPr>
            <p:ph type="ftr" sz="quarter" idx="11"/>
          </p:nvPr>
        </p:nvSpPr>
        <p:spPr/>
        <p:txBody>
          <a:bodyPr/>
          <a:lstStyle/>
          <a:p>
            <a:endParaRPr lang="en-CH"/>
          </a:p>
        </p:txBody>
      </p:sp>
      <p:sp>
        <p:nvSpPr>
          <p:cNvPr id="7" name="Slide Number Placeholder 6"/>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236816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22D85E-D2FB-42BA-8FC7-836FE23099A3}" type="datetimeFigureOut">
              <a:rPr lang="en-CH" smtClean="0"/>
              <a:t>16.01.2026</a:t>
            </a:fld>
            <a:endParaRPr lang="en-CH"/>
          </a:p>
        </p:txBody>
      </p:sp>
      <p:sp>
        <p:nvSpPr>
          <p:cNvPr id="5" name="Footer Placeholder 4"/>
          <p:cNvSpPr>
            <a:spLocks noGrp="1"/>
          </p:cNvSpPr>
          <p:nvPr>
            <p:ph type="ftr" sz="quarter" idx="11"/>
          </p:nvPr>
        </p:nvSpPr>
        <p:spPr/>
        <p:txBody>
          <a:bodyPr/>
          <a:lstStyle/>
          <a:p>
            <a:endParaRPr lang="en-CH"/>
          </a:p>
        </p:txBody>
      </p:sp>
      <p:sp>
        <p:nvSpPr>
          <p:cNvPr id="6" name="Slide Number Placeholder 5"/>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2672761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22D85E-D2FB-42BA-8FC7-836FE23099A3}" type="datetimeFigureOut">
              <a:rPr lang="en-CH" smtClean="0"/>
              <a:t>16.01.2026</a:t>
            </a:fld>
            <a:endParaRPr lang="en-CH"/>
          </a:p>
        </p:txBody>
      </p:sp>
      <p:sp>
        <p:nvSpPr>
          <p:cNvPr id="5" name="Footer Placeholder 4"/>
          <p:cNvSpPr>
            <a:spLocks noGrp="1"/>
          </p:cNvSpPr>
          <p:nvPr>
            <p:ph type="ftr" sz="quarter" idx="11"/>
          </p:nvPr>
        </p:nvSpPr>
        <p:spPr/>
        <p:txBody>
          <a:bodyPr/>
          <a:lstStyle/>
          <a:p>
            <a:endParaRPr lang="en-CH"/>
          </a:p>
        </p:txBody>
      </p:sp>
      <p:sp>
        <p:nvSpPr>
          <p:cNvPr id="6" name="Slide Number Placeholder 5"/>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2536756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822D85E-D2FB-42BA-8FC7-836FE23099A3}" type="datetimeFigureOut">
              <a:rPr lang="en-CH" smtClean="0"/>
              <a:t>16.01.2026</a:t>
            </a:fld>
            <a:endParaRPr lang="en-CH"/>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CH"/>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640D8EF-264D-4ACB-83B2-78695A2A739C}" type="slidenum">
              <a:rPr lang="en-CH" smtClean="0"/>
              <a:t>‹#›</a:t>
            </a:fld>
            <a:endParaRPr lang="en-CH"/>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956328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366FB-E8FD-C7F6-AD07-71C1ACEF5C5D}"/>
              </a:ext>
            </a:extLst>
          </p:cNvPr>
          <p:cNvSpPr>
            <a:spLocks noGrp="1"/>
          </p:cNvSpPr>
          <p:nvPr>
            <p:ph type="title"/>
          </p:nvPr>
        </p:nvSpPr>
        <p:spPr>
          <a:xfrm>
            <a:off x="643050" y="160191"/>
            <a:ext cx="4646904" cy="1624520"/>
          </a:xfrm>
        </p:spPr>
        <p:txBody>
          <a:bodyPr anchor="ctr">
            <a:normAutofit/>
          </a:bodyPr>
          <a:lstStyle/>
          <a:p>
            <a:r>
              <a:rPr lang="en-US" sz="3700" dirty="0"/>
              <a:t>Implementation of a spectrum classifier neural network</a:t>
            </a:r>
            <a:endParaRPr lang="en-CH" sz="3700" dirty="0"/>
          </a:p>
        </p:txBody>
      </p:sp>
      <p:sp>
        <p:nvSpPr>
          <p:cNvPr id="3" name="Content Placeholder 2">
            <a:extLst>
              <a:ext uri="{FF2B5EF4-FFF2-40B4-BE49-F238E27FC236}">
                <a16:creationId xmlns:a16="http://schemas.microsoft.com/office/drawing/2014/main" id="{30F5EA41-B160-9252-1F66-55500CD753FA}"/>
              </a:ext>
            </a:extLst>
          </p:cNvPr>
          <p:cNvSpPr>
            <a:spLocks noGrp="1"/>
          </p:cNvSpPr>
          <p:nvPr>
            <p:ph idx="1"/>
          </p:nvPr>
        </p:nvSpPr>
        <p:spPr>
          <a:xfrm>
            <a:off x="761802" y="2743200"/>
            <a:ext cx="4646905" cy="3613149"/>
          </a:xfrm>
        </p:spPr>
        <p:txBody>
          <a:bodyPr anchor="ctr">
            <a:normAutofit/>
          </a:bodyPr>
          <a:lstStyle/>
          <a:p>
            <a:pPr marL="0" indent="0">
              <a:buNone/>
            </a:pPr>
            <a:r>
              <a:rPr lang="en-US" sz="2000"/>
              <a:t>And design of a stable data base for future measurements with the microscope</a:t>
            </a:r>
          </a:p>
          <a:p>
            <a:pPr marL="0" indent="0">
              <a:buNone/>
            </a:pPr>
            <a:endParaRPr lang="en-US" sz="2000"/>
          </a:p>
          <a:p>
            <a:pPr marL="0" indent="0">
              <a:buNone/>
            </a:pPr>
            <a:r>
              <a:rPr lang="en-US" sz="2000" dirty="0"/>
              <a:t>Week 14</a:t>
            </a:r>
            <a:endParaRPr lang="en-CH" sz="2000"/>
          </a:p>
        </p:txBody>
      </p:sp>
      <p:pic>
        <p:nvPicPr>
          <p:cNvPr id="5" name="Picture 4">
            <a:extLst>
              <a:ext uri="{FF2B5EF4-FFF2-40B4-BE49-F238E27FC236}">
                <a16:creationId xmlns:a16="http://schemas.microsoft.com/office/drawing/2014/main" id="{BD1A302D-5F4B-7FFB-9CBD-CA74FFF547BF}"/>
              </a:ext>
            </a:extLst>
          </p:cNvPr>
          <p:cNvPicPr>
            <a:picLocks noChangeAspect="1"/>
          </p:cNvPicPr>
          <p:nvPr/>
        </p:nvPicPr>
        <p:blipFill>
          <a:blip r:embed="rId2"/>
          <a:srcRect l="22360" r="24247"/>
          <a:stretch>
            <a:fillRect/>
          </a:stretch>
        </p:blipFill>
        <p:spPr>
          <a:xfrm>
            <a:off x="6096000" y="1"/>
            <a:ext cx="6102825" cy="6858000"/>
          </a:xfrm>
          <a:prstGeom prst="rect">
            <a:avLst/>
          </a:prstGeom>
        </p:spPr>
      </p:pic>
      <p:sp>
        <p:nvSpPr>
          <p:cNvPr id="4" name="TextBox 3">
            <a:extLst>
              <a:ext uri="{FF2B5EF4-FFF2-40B4-BE49-F238E27FC236}">
                <a16:creationId xmlns:a16="http://schemas.microsoft.com/office/drawing/2014/main" id="{DC296877-46D0-E16C-A5B0-0379C2BBDCB5}"/>
              </a:ext>
            </a:extLst>
          </p:cNvPr>
          <p:cNvSpPr txBox="1"/>
          <p:nvPr/>
        </p:nvSpPr>
        <p:spPr>
          <a:xfrm>
            <a:off x="265176" y="6062472"/>
            <a:ext cx="301686" cy="369332"/>
          </a:xfrm>
          <a:prstGeom prst="rect">
            <a:avLst/>
          </a:prstGeom>
          <a:noFill/>
        </p:spPr>
        <p:txBody>
          <a:bodyPr wrap="none" rtlCol="0">
            <a:spAutoFit/>
          </a:bodyPr>
          <a:lstStyle/>
          <a:p>
            <a:r>
              <a:rPr lang="en-US" dirty="0"/>
              <a:t>1</a:t>
            </a:r>
          </a:p>
        </p:txBody>
      </p:sp>
    </p:spTree>
    <p:extLst>
      <p:ext uri="{BB962C8B-B14F-4D97-AF65-F5344CB8AC3E}">
        <p14:creationId xmlns:p14="http://schemas.microsoft.com/office/powerpoint/2010/main" val="3721937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DD82D3-D002-45B0-B16A-82B3DA4EFD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2E30E5-F55D-4E11-D2FF-C095CE562684}"/>
              </a:ext>
            </a:extLst>
          </p:cNvPr>
          <p:cNvSpPr>
            <a:spLocks noGrp="1"/>
          </p:cNvSpPr>
          <p:nvPr>
            <p:ph type="title"/>
          </p:nvPr>
        </p:nvSpPr>
        <p:spPr>
          <a:xfrm>
            <a:off x="949047" y="643466"/>
            <a:ext cx="2771273" cy="5225627"/>
          </a:xfrm>
        </p:spPr>
        <p:txBody>
          <a:bodyPr anchor="ctr">
            <a:normAutofit/>
          </a:bodyPr>
          <a:lstStyle/>
          <a:p>
            <a:r>
              <a:rPr lang="en-US" sz="3600"/>
              <a:t>Steps for proper development:</a:t>
            </a:r>
            <a:endParaRPr lang="en-CH" sz="3600"/>
          </a:p>
        </p:txBody>
      </p:sp>
      <p:cxnSp>
        <p:nvCxnSpPr>
          <p:cNvPr id="10" name="Straight Connector 9">
            <a:extLst>
              <a:ext uri="{FF2B5EF4-FFF2-40B4-BE49-F238E27FC236}">
                <a16:creationId xmlns:a16="http://schemas.microsoft.com/office/drawing/2014/main" id="{9F09C252-16FE-4557-AD6D-BB5CA77349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42053" y="1570271"/>
            <a:ext cx="0" cy="3200400"/>
          </a:xfrm>
          <a:prstGeom prst="line">
            <a:avLst/>
          </a:prstGeom>
          <a:ln w="31750">
            <a:solidFill>
              <a:schemeClr val="accent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A3A853E-7A5F-C2E2-44F4-4D775E554172}"/>
              </a:ext>
            </a:extLst>
          </p:cNvPr>
          <p:cNvSpPr>
            <a:spLocks noGrp="1"/>
          </p:cNvSpPr>
          <p:nvPr>
            <p:ph idx="1"/>
          </p:nvPr>
        </p:nvSpPr>
        <p:spPr>
          <a:xfrm>
            <a:off x="4186989" y="433137"/>
            <a:ext cx="7294575" cy="5568902"/>
          </a:xfrm>
        </p:spPr>
        <p:txBody>
          <a:bodyPr anchor="ctr">
            <a:normAutofit/>
          </a:bodyPr>
          <a:lstStyle/>
          <a:p>
            <a:r>
              <a:rPr lang="en-US" dirty="0"/>
              <a:t>Data analysis </a:t>
            </a:r>
            <a:r>
              <a:rPr lang="en-US" sz="1600" dirty="0"/>
              <a:t>(I haven’t done this properly in the previous weeks)</a:t>
            </a:r>
          </a:p>
          <a:p>
            <a:pPr lvl="1"/>
            <a:r>
              <a:rPr lang="en-US" dirty="0"/>
              <a:t>Assess shape, features, shifts, etc.</a:t>
            </a:r>
          </a:p>
          <a:p>
            <a:pPr lvl="1"/>
            <a:r>
              <a:rPr lang="en-US" dirty="0"/>
              <a:t>Clustering and preparation for classification</a:t>
            </a:r>
          </a:p>
          <a:p>
            <a:r>
              <a:rPr lang="en-US" dirty="0"/>
              <a:t>Data preprocessing </a:t>
            </a:r>
          </a:p>
          <a:p>
            <a:pPr lvl="1"/>
            <a:r>
              <a:rPr lang="en-US" dirty="0"/>
              <a:t>Make </a:t>
            </a:r>
            <a:r>
              <a:rPr lang="en-US" dirty="0" err="1"/>
              <a:t>subDBs</a:t>
            </a:r>
            <a:r>
              <a:rPr lang="en-US" dirty="0"/>
              <a:t> of processed data (Done by Francesco), and process also during training process.</a:t>
            </a:r>
          </a:p>
          <a:p>
            <a:r>
              <a:rPr lang="en-US" dirty="0"/>
              <a:t>NN implementation (done)</a:t>
            </a:r>
          </a:p>
          <a:p>
            <a:r>
              <a:rPr lang="en-US" dirty="0"/>
              <a:t>NN tweaks and improvements</a:t>
            </a:r>
          </a:p>
          <a:p>
            <a:pPr lvl="1"/>
            <a:r>
              <a:rPr lang="en-US" dirty="0"/>
              <a:t>Additional processed features to be fed to the network</a:t>
            </a:r>
          </a:p>
          <a:p>
            <a:pPr lvl="1"/>
            <a:r>
              <a:rPr lang="en-US" dirty="0"/>
              <a:t>Different models, loaders, validators, Losses, Optimizers, etc. (</a:t>
            </a:r>
            <a:r>
              <a:rPr lang="en-US" dirty="0" err="1"/>
              <a:t>Pytorch</a:t>
            </a:r>
            <a:r>
              <a:rPr lang="en-US" dirty="0"/>
              <a:t>)</a:t>
            </a:r>
            <a:endParaRPr lang="en-CH" dirty="0"/>
          </a:p>
        </p:txBody>
      </p:sp>
      <p:sp>
        <p:nvSpPr>
          <p:cNvPr id="12" name="Rectangle 11">
            <a:extLst>
              <a:ext uri="{FF2B5EF4-FFF2-40B4-BE49-F238E27FC236}">
                <a16:creationId xmlns:a16="http://schemas.microsoft.com/office/drawing/2014/main" id="{4C15B19B-E7BB-4060-B12F-3CDA8EF16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336792"/>
            <a:ext cx="12188825" cy="521208"/>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H"/>
          </a:p>
        </p:txBody>
      </p:sp>
      <p:sp>
        <p:nvSpPr>
          <p:cNvPr id="4" name="TextBox 3">
            <a:extLst>
              <a:ext uri="{FF2B5EF4-FFF2-40B4-BE49-F238E27FC236}">
                <a16:creationId xmlns:a16="http://schemas.microsoft.com/office/drawing/2014/main" id="{1519BA7A-06C6-BFD2-11C5-E0F70B324327}"/>
              </a:ext>
            </a:extLst>
          </p:cNvPr>
          <p:cNvSpPr txBox="1"/>
          <p:nvPr/>
        </p:nvSpPr>
        <p:spPr>
          <a:xfrm>
            <a:off x="320040" y="6080760"/>
            <a:ext cx="301686" cy="369332"/>
          </a:xfrm>
          <a:prstGeom prst="rect">
            <a:avLst/>
          </a:prstGeom>
          <a:noFill/>
        </p:spPr>
        <p:txBody>
          <a:bodyPr wrap="none" rtlCol="0">
            <a:spAutoFit/>
          </a:bodyPr>
          <a:lstStyle/>
          <a:p>
            <a:r>
              <a:rPr lang="en-US" dirty="0"/>
              <a:t>2</a:t>
            </a:r>
          </a:p>
        </p:txBody>
      </p:sp>
    </p:spTree>
    <p:extLst>
      <p:ext uri="{BB962C8B-B14F-4D97-AF65-F5344CB8AC3E}">
        <p14:creationId xmlns:p14="http://schemas.microsoft.com/office/powerpoint/2010/main" val="217246048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0FEED-1181-3EAE-FD19-526B33CF3474}"/>
              </a:ext>
            </a:extLst>
          </p:cNvPr>
          <p:cNvSpPr>
            <a:spLocks noGrp="1"/>
          </p:cNvSpPr>
          <p:nvPr>
            <p:ph type="title"/>
          </p:nvPr>
        </p:nvSpPr>
        <p:spPr/>
        <p:txBody>
          <a:bodyPr/>
          <a:lstStyle/>
          <a:p>
            <a:r>
              <a:rPr lang="en-US" dirty="0"/>
              <a:t>Data analysis</a:t>
            </a:r>
            <a:endParaRPr lang="en-CH" dirty="0"/>
          </a:p>
        </p:txBody>
      </p:sp>
      <p:sp>
        <p:nvSpPr>
          <p:cNvPr id="3" name="Content Placeholder 2">
            <a:extLst>
              <a:ext uri="{FF2B5EF4-FFF2-40B4-BE49-F238E27FC236}">
                <a16:creationId xmlns:a16="http://schemas.microsoft.com/office/drawing/2014/main" id="{F5BBC1EA-43E2-5CFB-70A2-7BF0236B3DAD}"/>
              </a:ext>
            </a:extLst>
          </p:cNvPr>
          <p:cNvSpPr>
            <a:spLocks noGrp="1"/>
          </p:cNvSpPr>
          <p:nvPr>
            <p:ph idx="1"/>
          </p:nvPr>
        </p:nvSpPr>
        <p:spPr>
          <a:xfrm>
            <a:off x="838200" y="2139949"/>
            <a:ext cx="10215282" cy="4037013"/>
          </a:xfrm>
        </p:spPr>
        <p:txBody>
          <a:bodyPr/>
          <a:lstStyle/>
          <a:p>
            <a:r>
              <a:rPr lang="en-US" dirty="0"/>
              <a:t>I did some plotting as well as some clustering.</a:t>
            </a:r>
            <a:endParaRPr lang="en-CH" dirty="0"/>
          </a:p>
        </p:txBody>
      </p:sp>
      <p:sp>
        <p:nvSpPr>
          <p:cNvPr id="4" name="TextBox 3">
            <a:extLst>
              <a:ext uri="{FF2B5EF4-FFF2-40B4-BE49-F238E27FC236}">
                <a16:creationId xmlns:a16="http://schemas.microsoft.com/office/drawing/2014/main" id="{CDD2FCC6-9644-1C00-C523-99B5A1CC14B3}"/>
              </a:ext>
            </a:extLst>
          </p:cNvPr>
          <p:cNvSpPr txBox="1"/>
          <p:nvPr/>
        </p:nvSpPr>
        <p:spPr>
          <a:xfrm>
            <a:off x="310896" y="6071616"/>
            <a:ext cx="301686" cy="369332"/>
          </a:xfrm>
          <a:prstGeom prst="rect">
            <a:avLst/>
          </a:prstGeom>
          <a:noFill/>
        </p:spPr>
        <p:txBody>
          <a:bodyPr wrap="none" rtlCol="0">
            <a:spAutoFit/>
          </a:bodyPr>
          <a:lstStyle/>
          <a:p>
            <a:r>
              <a:rPr lang="en-US" dirty="0"/>
              <a:t>3</a:t>
            </a:r>
          </a:p>
        </p:txBody>
      </p:sp>
    </p:spTree>
    <p:extLst>
      <p:ext uri="{BB962C8B-B14F-4D97-AF65-F5344CB8AC3E}">
        <p14:creationId xmlns:p14="http://schemas.microsoft.com/office/powerpoint/2010/main" val="599686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D2AD0-D941-65E4-2667-E736AF68944F}"/>
              </a:ext>
            </a:extLst>
          </p:cNvPr>
          <p:cNvSpPr>
            <a:spLocks noGrp="1"/>
          </p:cNvSpPr>
          <p:nvPr>
            <p:ph type="title"/>
          </p:nvPr>
        </p:nvSpPr>
        <p:spPr>
          <a:xfrm>
            <a:off x="0" y="0"/>
            <a:ext cx="6160655" cy="951345"/>
          </a:xfrm>
        </p:spPr>
        <p:txBody>
          <a:bodyPr/>
          <a:lstStyle/>
          <a:p>
            <a:r>
              <a:rPr lang="en-US" dirty="0"/>
              <a:t>Sample grouping</a:t>
            </a:r>
            <a:endParaRPr lang="en-CH" dirty="0"/>
          </a:p>
        </p:txBody>
      </p:sp>
      <p:sp>
        <p:nvSpPr>
          <p:cNvPr id="3" name="Content Placeholder 2">
            <a:extLst>
              <a:ext uri="{FF2B5EF4-FFF2-40B4-BE49-F238E27FC236}">
                <a16:creationId xmlns:a16="http://schemas.microsoft.com/office/drawing/2014/main" id="{79459E70-0673-2E2D-57A8-8C4BEEA4056C}"/>
              </a:ext>
            </a:extLst>
          </p:cNvPr>
          <p:cNvSpPr>
            <a:spLocks noGrp="1"/>
          </p:cNvSpPr>
          <p:nvPr>
            <p:ph idx="1"/>
          </p:nvPr>
        </p:nvSpPr>
        <p:spPr>
          <a:xfrm>
            <a:off x="132866" y="1045029"/>
            <a:ext cx="5963134" cy="5130140"/>
          </a:xfrm>
        </p:spPr>
        <p:txBody>
          <a:bodyPr>
            <a:normAutofit/>
          </a:bodyPr>
          <a:lstStyle/>
          <a:p>
            <a:r>
              <a:rPr lang="en-US" dirty="0"/>
              <a:t>Groups are ok. </a:t>
            </a:r>
            <a:r>
              <a:rPr lang="en-US" sz="2000" dirty="0"/>
              <a:t>Although we have non homogenous numbers, this should be fine and we already knew about this.</a:t>
            </a:r>
          </a:p>
          <a:p>
            <a:r>
              <a:rPr lang="en-US" sz="2400" dirty="0"/>
              <a:t>These groups are now being fed to the NN and being classified by these.</a:t>
            </a:r>
            <a:r>
              <a:rPr lang="en-US" sz="1800" dirty="0"/>
              <a:t> Then, for plotting, one plot will be chosen at random (or we can do a “ideal” plot)</a:t>
            </a:r>
          </a:p>
          <a:p>
            <a:pPr marL="0" indent="0">
              <a:buNone/>
            </a:pPr>
            <a:endParaRPr lang="en-US" sz="1800" dirty="0"/>
          </a:p>
          <a:p>
            <a:pPr marL="0" indent="0">
              <a:buNone/>
            </a:pPr>
            <a:endParaRPr lang="en-US" sz="1800" dirty="0"/>
          </a:p>
          <a:p>
            <a:r>
              <a:rPr lang="en-US" sz="1800" dirty="0"/>
              <a:t>From our database -&gt;</a:t>
            </a:r>
          </a:p>
          <a:p>
            <a:pPr marL="0" indent="0">
              <a:buNone/>
            </a:pPr>
            <a:r>
              <a:rPr lang="en-US" sz="1800" dirty="0"/>
              <a:t>  Done with interpolation</a:t>
            </a:r>
          </a:p>
          <a:p>
            <a:pPr marL="0" indent="0">
              <a:buNone/>
            </a:pPr>
            <a:endParaRPr lang="en-US" sz="1800" dirty="0"/>
          </a:p>
          <a:p>
            <a:pPr marL="0" indent="0">
              <a:buNone/>
            </a:pPr>
            <a:endParaRPr lang="en-US" sz="1800" dirty="0"/>
          </a:p>
          <a:p>
            <a:pPr marL="0" indent="0">
              <a:buNone/>
            </a:pPr>
            <a:r>
              <a:rPr lang="en-US" sz="1800" dirty="0"/>
              <a:t>Found on internet -&gt;</a:t>
            </a:r>
            <a:endParaRPr lang="en-CH" sz="2400" dirty="0"/>
          </a:p>
        </p:txBody>
      </p:sp>
      <p:pic>
        <p:nvPicPr>
          <p:cNvPr id="5" name="Picture 4">
            <a:extLst>
              <a:ext uri="{FF2B5EF4-FFF2-40B4-BE49-F238E27FC236}">
                <a16:creationId xmlns:a16="http://schemas.microsoft.com/office/drawing/2014/main" id="{4EB3164F-E01F-3A42-8AA7-0C38A99CF31D}"/>
              </a:ext>
            </a:extLst>
          </p:cNvPr>
          <p:cNvPicPr>
            <a:picLocks noChangeAspect="1"/>
          </p:cNvPicPr>
          <p:nvPr/>
        </p:nvPicPr>
        <p:blipFill>
          <a:blip r:embed="rId2"/>
          <a:stretch>
            <a:fillRect/>
          </a:stretch>
        </p:blipFill>
        <p:spPr>
          <a:xfrm>
            <a:off x="6228866" y="0"/>
            <a:ext cx="5963134" cy="6858000"/>
          </a:xfrm>
          <a:prstGeom prst="rect">
            <a:avLst/>
          </a:prstGeom>
        </p:spPr>
      </p:pic>
      <p:pic>
        <p:nvPicPr>
          <p:cNvPr id="6" name="Picture 5">
            <a:extLst>
              <a:ext uri="{FF2B5EF4-FFF2-40B4-BE49-F238E27FC236}">
                <a16:creationId xmlns:a16="http://schemas.microsoft.com/office/drawing/2014/main" id="{FBC0D232-983B-CFAB-8149-A969D865E59C}"/>
              </a:ext>
            </a:extLst>
          </p:cNvPr>
          <p:cNvPicPr>
            <a:picLocks noChangeAspect="1"/>
          </p:cNvPicPr>
          <p:nvPr/>
        </p:nvPicPr>
        <p:blipFill>
          <a:blip r:embed="rId3"/>
          <a:stretch>
            <a:fillRect/>
          </a:stretch>
        </p:blipFill>
        <p:spPr>
          <a:xfrm>
            <a:off x="2965076" y="3610996"/>
            <a:ext cx="3130924" cy="1551216"/>
          </a:xfrm>
          <a:prstGeom prst="rect">
            <a:avLst/>
          </a:prstGeom>
        </p:spPr>
      </p:pic>
      <p:pic>
        <p:nvPicPr>
          <p:cNvPr id="1026" name="Picture 2" descr="Polymer Analysis using Raman Spectroscopy – PhysicsOpenLab">
            <a:extLst>
              <a:ext uri="{FF2B5EF4-FFF2-40B4-BE49-F238E27FC236}">
                <a16:creationId xmlns:a16="http://schemas.microsoft.com/office/drawing/2014/main" id="{986BA52F-064D-95C6-A412-D24A5B7223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6749" y="5182535"/>
            <a:ext cx="4179251" cy="151116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176C2F5-A898-80C0-4871-528848C9EEB6}"/>
              </a:ext>
            </a:extLst>
          </p:cNvPr>
          <p:cNvSpPr txBox="1"/>
          <p:nvPr/>
        </p:nvSpPr>
        <p:spPr>
          <a:xfrm>
            <a:off x="292608" y="6473952"/>
            <a:ext cx="301686" cy="369332"/>
          </a:xfrm>
          <a:prstGeom prst="rect">
            <a:avLst/>
          </a:prstGeom>
          <a:noFill/>
        </p:spPr>
        <p:txBody>
          <a:bodyPr wrap="none" rtlCol="0">
            <a:spAutoFit/>
          </a:bodyPr>
          <a:lstStyle/>
          <a:p>
            <a:r>
              <a:rPr lang="en-US" dirty="0"/>
              <a:t>4</a:t>
            </a:r>
          </a:p>
        </p:txBody>
      </p:sp>
    </p:spTree>
    <p:extLst>
      <p:ext uri="{BB962C8B-B14F-4D97-AF65-F5344CB8AC3E}">
        <p14:creationId xmlns:p14="http://schemas.microsoft.com/office/powerpoint/2010/main" val="3205761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03FCD0-82EF-769E-1549-E4683CB61CD0}"/>
              </a:ext>
            </a:extLst>
          </p:cNvPr>
          <p:cNvPicPr>
            <a:picLocks noChangeAspect="1"/>
          </p:cNvPicPr>
          <p:nvPr/>
        </p:nvPicPr>
        <p:blipFill>
          <a:blip r:embed="rId2"/>
          <a:stretch>
            <a:fillRect/>
          </a:stretch>
        </p:blipFill>
        <p:spPr>
          <a:xfrm>
            <a:off x="293765" y="148059"/>
            <a:ext cx="5499747" cy="3280941"/>
          </a:xfrm>
          <a:prstGeom prst="rect">
            <a:avLst/>
          </a:prstGeom>
        </p:spPr>
      </p:pic>
      <p:pic>
        <p:nvPicPr>
          <p:cNvPr id="7" name="Picture 6">
            <a:extLst>
              <a:ext uri="{FF2B5EF4-FFF2-40B4-BE49-F238E27FC236}">
                <a16:creationId xmlns:a16="http://schemas.microsoft.com/office/drawing/2014/main" id="{9E4ABEC3-451B-A367-0B28-88E4B4253D9E}"/>
              </a:ext>
            </a:extLst>
          </p:cNvPr>
          <p:cNvPicPr>
            <a:picLocks noChangeAspect="1"/>
          </p:cNvPicPr>
          <p:nvPr/>
        </p:nvPicPr>
        <p:blipFill>
          <a:blip r:embed="rId3"/>
          <a:stretch>
            <a:fillRect/>
          </a:stretch>
        </p:blipFill>
        <p:spPr>
          <a:xfrm>
            <a:off x="6398490" y="148059"/>
            <a:ext cx="5560288" cy="3317057"/>
          </a:xfrm>
          <a:prstGeom prst="rect">
            <a:avLst/>
          </a:prstGeom>
        </p:spPr>
      </p:pic>
      <p:pic>
        <p:nvPicPr>
          <p:cNvPr id="9" name="Picture 8">
            <a:extLst>
              <a:ext uri="{FF2B5EF4-FFF2-40B4-BE49-F238E27FC236}">
                <a16:creationId xmlns:a16="http://schemas.microsoft.com/office/drawing/2014/main" id="{AB3F54D8-D8F7-0EB8-CB3D-D265576611A6}"/>
              </a:ext>
            </a:extLst>
          </p:cNvPr>
          <p:cNvPicPr>
            <a:picLocks noChangeAspect="1"/>
          </p:cNvPicPr>
          <p:nvPr/>
        </p:nvPicPr>
        <p:blipFill>
          <a:blip r:embed="rId4"/>
          <a:stretch>
            <a:fillRect/>
          </a:stretch>
        </p:blipFill>
        <p:spPr>
          <a:xfrm>
            <a:off x="218932" y="3577059"/>
            <a:ext cx="5499747" cy="3280941"/>
          </a:xfrm>
          <a:prstGeom prst="rect">
            <a:avLst/>
          </a:prstGeom>
        </p:spPr>
      </p:pic>
      <p:pic>
        <p:nvPicPr>
          <p:cNvPr id="11" name="Picture 10">
            <a:extLst>
              <a:ext uri="{FF2B5EF4-FFF2-40B4-BE49-F238E27FC236}">
                <a16:creationId xmlns:a16="http://schemas.microsoft.com/office/drawing/2014/main" id="{ACCCB78E-B11F-E6A7-DBFE-EAEA84FDF6B4}"/>
              </a:ext>
            </a:extLst>
          </p:cNvPr>
          <p:cNvPicPr>
            <a:picLocks noChangeAspect="1"/>
          </p:cNvPicPr>
          <p:nvPr/>
        </p:nvPicPr>
        <p:blipFill>
          <a:blip r:embed="rId5"/>
          <a:stretch>
            <a:fillRect/>
          </a:stretch>
        </p:blipFill>
        <p:spPr>
          <a:xfrm>
            <a:off x="6473323" y="3540943"/>
            <a:ext cx="5560288" cy="3317057"/>
          </a:xfrm>
          <a:prstGeom prst="rect">
            <a:avLst/>
          </a:prstGeom>
        </p:spPr>
      </p:pic>
      <p:sp>
        <p:nvSpPr>
          <p:cNvPr id="2" name="TextBox 1">
            <a:extLst>
              <a:ext uri="{FF2B5EF4-FFF2-40B4-BE49-F238E27FC236}">
                <a16:creationId xmlns:a16="http://schemas.microsoft.com/office/drawing/2014/main" id="{ABA1D199-6004-EBE6-0F1A-1C389232DF40}"/>
              </a:ext>
            </a:extLst>
          </p:cNvPr>
          <p:cNvSpPr txBox="1"/>
          <p:nvPr/>
        </p:nvSpPr>
        <p:spPr>
          <a:xfrm>
            <a:off x="100584" y="6519672"/>
            <a:ext cx="301686" cy="369332"/>
          </a:xfrm>
          <a:prstGeom prst="rect">
            <a:avLst/>
          </a:prstGeom>
          <a:noFill/>
        </p:spPr>
        <p:txBody>
          <a:bodyPr wrap="none" rtlCol="0">
            <a:spAutoFit/>
          </a:bodyPr>
          <a:lstStyle/>
          <a:p>
            <a:r>
              <a:rPr lang="en-US" dirty="0"/>
              <a:t>5</a:t>
            </a:r>
          </a:p>
        </p:txBody>
      </p:sp>
    </p:spTree>
    <p:extLst>
      <p:ext uri="{BB962C8B-B14F-4D97-AF65-F5344CB8AC3E}">
        <p14:creationId xmlns:p14="http://schemas.microsoft.com/office/powerpoint/2010/main" val="1617807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1031E-F870-8244-82BF-79BFC3527AF1}"/>
              </a:ext>
            </a:extLst>
          </p:cNvPr>
          <p:cNvSpPr>
            <a:spLocks noGrp="1"/>
          </p:cNvSpPr>
          <p:nvPr>
            <p:ph type="title"/>
          </p:nvPr>
        </p:nvSpPr>
        <p:spPr/>
        <p:txBody>
          <a:bodyPr/>
          <a:lstStyle/>
          <a:p>
            <a:r>
              <a:rPr lang="en-US" dirty="0"/>
              <a:t>Comments on the plots</a:t>
            </a:r>
            <a:endParaRPr lang="en-CH" dirty="0"/>
          </a:p>
        </p:txBody>
      </p:sp>
      <p:sp>
        <p:nvSpPr>
          <p:cNvPr id="3" name="Content Placeholder 2">
            <a:extLst>
              <a:ext uri="{FF2B5EF4-FFF2-40B4-BE49-F238E27FC236}">
                <a16:creationId xmlns:a16="http://schemas.microsoft.com/office/drawing/2014/main" id="{523030AD-2408-8AB6-4032-01424EE7F969}"/>
              </a:ext>
            </a:extLst>
          </p:cNvPr>
          <p:cNvSpPr>
            <a:spLocks noGrp="1"/>
          </p:cNvSpPr>
          <p:nvPr>
            <p:ph idx="1"/>
          </p:nvPr>
        </p:nvSpPr>
        <p:spPr/>
        <p:txBody>
          <a:bodyPr>
            <a:normAutofit/>
          </a:bodyPr>
          <a:lstStyle/>
          <a:p>
            <a:r>
              <a:rPr lang="en-US" dirty="0"/>
              <a:t>- The peaks look okay, they make sense, and we have good homogeneity of the spectra.</a:t>
            </a:r>
          </a:p>
          <a:p>
            <a:r>
              <a:rPr lang="en-US" dirty="0"/>
              <a:t>- There are no apparent shifts in the data (</a:t>
            </a:r>
            <a:r>
              <a:rPr lang="en-US" sz="1800" dirty="0"/>
              <a:t>that we hypothesized</a:t>
            </a:r>
            <a:r>
              <a:rPr lang="en-US" dirty="0"/>
              <a:t>). </a:t>
            </a:r>
            <a:r>
              <a:rPr lang="en-US" sz="2000" dirty="0"/>
              <a:t>I suppose the data has been aligned and/or stretched. </a:t>
            </a:r>
            <a:r>
              <a:rPr lang="en-US" sz="1600" dirty="0"/>
              <a:t>We may need to do this also for new samples, before adding them to the database. (it would be part of a preprocessing step where we would have raw DB and processed DB)</a:t>
            </a:r>
          </a:p>
          <a:p>
            <a:r>
              <a:rPr lang="en-US" dirty="0"/>
              <a:t>- Some samples have more noise than others.</a:t>
            </a:r>
          </a:p>
          <a:p>
            <a:pPr lvl="1"/>
            <a:r>
              <a:rPr lang="en-US" sz="1600" dirty="0"/>
              <a:t>Can compute </a:t>
            </a:r>
            <a:r>
              <a:rPr lang="en-US" sz="1600" dirty="0" err="1"/>
              <a:t>StN</a:t>
            </a:r>
            <a:r>
              <a:rPr lang="en-US" sz="1600" dirty="0"/>
              <a:t> ratio and see where the worst samples are coming from.</a:t>
            </a:r>
          </a:p>
          <a:p>
            <a:r>
              <a:rPr lang="en-US" dirty="0"/>
              <a:t>- The baseline is not even that much of a problem here.</a:t>
            </a:r>
          </a:p>
        </p:txBody>
      </p:sp>
      <p:sp>
        <p:nvSpPr>
          <p:cNvPr id="4" name="TextBox 3">
            <a:extLst>
              <a:ext uri="{FF2B5EF4-FFF2-40B4-BE49-F238E27FC236}">
                <a16:creationId xmlns:a16="http://schemas.microsoft.com/office/drawing/2014/main" id="{F1706DE8-59DA-F2AC-94BE-397A60C086B7}"/>
              </a:ext>
            </a:extLst>
          </p:cNvPr>
          <p:cNvSpPr txBox="1"/>
          <p:nvPr/>
        </p:nvSpPr>
        <p:spPr>
          <a:xfrm>
            <a:off x="292608" y="6135624"/>
            <a:ext cx="301686" cy="369332"/>
          </a:xfrm>
          <a:prstGeom prst="rect">
            <a:avLst/>
          </a:prstGeom>
          <a:noFill/>
        </p:spPr>
        <p:txBody>
          <a:bodyPr wrap="none" rtlCol="0">
            <a:spAutoFit/>
          </a:bodyPr>
          <a:lstStyle/>
          <a:p>
            <a:r>
              <a:rPr lang="en-US" dirty="0"/>
              <a:t>6</a:t>
            </a:r>
          </a:p>
        </p:txBody>
      </p:sp>
    </p:spTree>
    <p:extLst>
      <p:ext uri="{BB962C8B-B14F-4D97-AF65-F5344CB8AC3E}">
        <p14:creationId xmlns:p14="http://schemas.microsoft.com/office/powerpoint/2010/main" val="1640256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6982F-7789-AD71-1E16-0A9061C541A2}"/>
              </a:ext>
            </a:extLst>
          </p:cNvPr>
          <p:cNvSpPr>
            <a:spLocks noGrp="1"/>
          </p:cNvSpPr>
          <p:nvPr>
            <p:ph type="title"/>
          </p:nvPr>
        </p:nvSpPr>
        <p:spPr>
          <a:xfrm>
            <a:off x="115328" y="127601"/>
            <a:ext cx="6095999" cy="944692"/>
          </a:xfrm>
        </p:spPr>
        <p:txBody>
          <a:bodyPr/>
          <a:lstStyle/>
          <a:p>
            <a:r>
              <a:rPr lang="en-US" dirty="0"/>
              <a:t>Some clustering</a:t>
            </a:r>
            <a:endParaRPr lang="en-CH" dirty="0"/>
          </a:p>
        </p:txBody>
      </p:sp>
      <p:sp>
        <p:nvSpPr>
          <p:cNvPr id="3" name="Content Placeholder 2">
            <a:extLst>
              <a:ext uri="{FF2B5EF4-FFF2-40B4-BE49-F238E27FC236}">
                <a16:creationId xmlns:a16="http://schemas.microsoft.com/office/drawing/2014/main" id="{4F00CFAE-974E-9BC0-1A3D-1B649A98AB27}"/>
              </a:ext>
            </a:extLst>
          </p:cNvPr>
          <p:cNvSpPr>
            <a:spLocks noGrp="1"/>
          </p:cNvSpPr>
          <p:nvPr>
            <p:ph idx="1"/>
          </p:nvPr>
        </p:nvSpPr>
        <p:spPr>
          <a:xfrm>
            <a:off x="230658" y="1136276"/>
            <a:ext cx="5865341" cy="4999025"/>
          </a:xfrm>
        </p:spPr>
        <p:txBody>
          <a:bodyPr/>
          <a:lstStyle/>
          <a:p>
            <a:r>
              <a:rPr lang="en-US" dirty="0"/>
              <a:t>On top: </a:t>
            </a:r>
            <a:r>
              <a:rPr lang="en-US" sz="2000" dirty="0"/>
              <a:t>Ratios of intensities between the Aromatic and CH-</a:t>
            </a:r>
            <a:r>
              <a:rPr lang="en-US" sz="2000" dirty="0" err="1"/>
              <a:t>strech</a:t>
            </a:r>
            <a:r>
              <a:rPr lang="en-US" sz="2000" dirty="0"/>
              <a:t> regions, against the ratio of Skeletal/CH-bend regions. </a:t>
            </a:r>
            <a:r>
              <a:rPr lang="en-US" sz="1800" dirty="0"/>
              <a:t>Colors are for largest groups determined before. Gray is for smaller groups</a:t>
            </a:r>
          </a:p>
          <a:p>
            <a:r>
              <a:rPr lang="en-US" dirty="0"/>
              <a:t>Bottom: </a:t>
            </a:r>
            <a:r>
              <a:rPr lang="en-US" sz="2000" dirty="0"/>
              <a:t>By intensities of regions. Cluster outlines made with KDE.</a:t>
            </a:r>
          </a:p>
          <a:p>
            <a:r>
              <a:rPr lang="en-US" dirty="0"/>
              <a:t>Our samples and groups make sense. </a:t>
            </a:r>
            <a:r>
              <a:rPr lang="en-US" sz="2000" dirty="0"/>
              <a:t>We are able to get clusters, and they are not much scattered</a:t>
            </a:r>
            <a:r>
              <a:rPr lang="en-US" sz="2000" b="1" dirty="0"/>
              <a:t>. (it doesn’t matter which features you take: if you get clusters, it’s a good thing). </a:t>
            </a:r>
            <a:r>
              <a:rPr lang="en-US" sz="2000" dirty="0"/>
              <a:t>There fore the network can also capture these groups and take into account  for classification.</a:t>
            </a:r>
            <a:endParaRPr lang="en-CH" dirty="0"/>
          </a:p>
        </p:txBody>
      </p:sp>
      <p:pic>
        <p:nvPicPr>
          <p:cNvPr id="9" name="Picture 8">
            <a:extLst>
              <a:ext uri="{FF2B5EF4-FFF2-40B4-BE49-F238E27FC236}">
                <a16:creationId xmlns:a16="http://schemas.microsoft.com/office/drawing/2014/main" id="{A13A30F4-3322-33C5-61E4-7BE505AF8EC6}"/>
              </a:ext>
            </a:extLst>
          </p:cNvPr>
          <p:cNvPicPr>
            <a:picLocks noChangeAspect="1"/>
          </p:cNvPicPr>
          <p:nvPr/>
        </p:nvPicPr>
        <p:blipFill>
          <a:blip r:embed="rId2"/>
          <a:stretch>
            <a:fillRect/>
          </a:stretch>
        </p:blipFill>
        <p:spPr>
          <a:xfrm>
            <a:off x="0" y="5059028"/>
            <a:ext cx="6649571" cy="1721224"/>
          </a:xfrm>
          <a:prstGeom prst="rect">
            <a:avLst/>
          </a:prstGeom>
        </p:spPr>
      </p:pic>
      <p:pic>
        <p:nvPicPr>
          <p:cNvPr id="11" name="Picture 10">
            <a:extLst>
              <a:ext uri="{FF2B5EF4-FFF2-40B4-BE49-F238E27FC236}">
                <a16:creationId xmlns:a16="http://schemas.microsoft.com/office/drawing/2014/main" id="{FB4BA121-C36F-9C4C-AA06-4505B51CB356}"/>
              </a:ext>
            </a:extLst>
          </p:cNvPr>
          <p:cNvPicPr>
            <a:picLocks noChangeAspect="1"/>
          </p:cNvPicPr>
          <p:nvPr/>
        </p:nvPicPr>
        <p:blipFill>
          <a:blip r:embed="rId3"/>
          <a:stretch>
            <a:fillRect/>
          </a:stretch>
        </p:blipFill>
        <p:spPr>
          <a:xfrm>
            <a:off x="6441985" y="-2"/>
            <a:ext cx="5750015" cy="3433713"/>
          </a:xfrm>
          <a:prstGeom prst="rect">
            <a:avLst/>
          </a:prstGeom>
        </p:spPr>
      </p:pic>
      <p:pic>
        <p:nvPicPr>
          <p:cNvPr id="13" name="Picture 12">
            <a:extLst>
              <a:ext uri="{FF2B5EF4-FFF2-40B4-BE49-F238E27FC236}">
                <a16:creationId xmlns:a16="http://schemas.microsoft.com/office/drawing/2014/main" id="{B237DEA4-89B0-8895-AA71-5AC7B2874FD0}"/>
              </a:ext>
            </a:extLst>
          </p:cNvPr>
          <p:cNvPicPr>
            <a:picLocks noChangeAspect="1"/>
          </p:cNvPicPr>
          <p:nvPr/>
        </p:nvPicPr>
        <p:blipFill>
          <a:blip r:embed="rId4"/>
          <a:stretch>
            <a:fillRect/>
          </a:stretch>
        </p:blipFill>
        <p:spPr>
          <a:xfrm>
            <a:off x="6649571" y="3404153"/>
            <a:ext cx="5542429" cy="3309750"/>
          </a:xfrm>
          <a:prstGeom prst="rect">
            <a:avLst/>
          </a:prstGeom>
        </p:spPr>
      </p:pic>
      <p:sp>
        <p:nvSpPr>
          <p:cNvPr id="4" name="TextBox 3">
            <a:extLst>
              <a:ext uri="{FF2B5EF4-FFF2-40B4-BE49-F238E27FC236}">
                <a16:creationId xmlns:a16="http://schemas.microsoft.com/office/drawing/2014/main" id="{91C592A7-04F4-591D-4AA5-6E51E8ED9074}"/>
              </a:ext>
            </a:extLst>
          </p:cNvPr>
          <p:cNvSpPr txBox="1"/>
          <p:nvPr/>
        </p:nvSpPr>
        <p:spPr>
          <a:xfrm>
            <a:off x="11768328" y="6318504"/>
            <a:ext cx="301686" cy="369332"/>
          </a:xfrm>
          <a:prstGeom prst="rect">
            <a:avLst/>
          </a:prstGeom>
          <a:noFill/>
        </p:spPr>
        <p:txBody>
          <a:bodyPr wrap="none" rtlCol="0">
            <a:spAutoFit/>
          </a:bodyPr>
          <a:lstStyle/>
          <a:p>
            <a:r>
              <a:rPr lang="en-US" dirty="0"/>
              <a:t>7</a:t>
            </a:r>
          </a:p>
        </p:txBody>
      </p:sp>
    </p:spTree>
    <p:extLst>
      <p:ext uri="{BB962C8B-B14F-4D97-AF65-F5344CB8AC3E}">
        <p14:creationId xmlns:p14="http://schemas.microsoft.com/office/powerpoint/2010/main" val="173177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B98B4-EBAA-5F5B-0808-4C7C6223CF9F}"/>
              </a:ext>
            </a:extLst>
          </p:cNvPr>
          <p:cNvSpPr>
            <a:spLocks noGrp="1"/>
          </p:cNvSpPr>
          <p:nvPr>
            <p:ph type="title"/>
          </p:nvPr>
        </p:nvSpPr>
        <p:spPr>
          <a:xfrm>
            <a:off x="320964" y="208106"/>
            <a:ext cx="10515600" cy="1325563"/>
          </a:xfrm>
        </p:spPr>
        <p:txBody>
          <a:bodyPr/>
          <a:lstStyle/>
          <a:p>
            <a:r>
              <a:rPr lang="en-US" dirty="0"/>
              <a:t>Comments on clusters</a:t>
            </a:r>
            <a:endParaRPr lang="en-CH" dirty="0"/>
          </a:p>
        </p:txBody>
      </p:sp>
      <p:sp>
        <p:nvSpPr>
          <p:cNvPr id="3" name="Content Placeholder 2">
            <a:extLst>
              <a:ext uri="{FF2B5EF4-FFF2-40B4-BE49-F238E27FC236}">
                <a16:creationId xmlns:a16="http://schemas.microsoft.com/office/drawing/2014/main" id="{0D5D1630-2718-2A7C-75F2-42E471930B3C}"/>
              </a:ext>
            </a:extLst>
          </p:cNvPr>
          <p:cNvSpPr>
            <a:spLocks noGrp="1"/>
          </p:cNvSpPr>
          <p:nvPr>
            <p:ph idx="1"/>
          </p:nvPr>
        </p:nvSpPr>
        <p:spPr>
          <a:xfrm>
            <a:off x="320964" y="2091017"/>
            <a:ext cx="10515600" cy="3793989"/>
          </a:xfrm>
        </p:spPr>
        <p:txBody>
          <a:bodyPr/>
          <a:lstStyle/>
          <a:p>
            <a:r>
              <a:rPr lang="en-US" dirty="0"/>
              <a:t>Samples at 0 at the previous clusters, is because they do not include the ranges mentioned.</a:t>
            </a:r>
          </a:p>
          <a:p>
            <a:r>
              <a:rPr lang="en-US" dirty="0"/>
              <a:t>All this analysis should be done with the new samples added to database to make sure they make sense.</a:t>
            </a:r>
          </a:p>
          <a:p>
            <a:r>
              <a:rPr lang="en-US" dirty="0"/>
              <a:t>We can also directly feed the network with already processed features like these ones </a:t>
            </a:r>
            <a:r>
              <a:rPr lang="en-US" sz="2000" dirty="0"/>
              <a:t>(haven’t done yet).</a:t>
            </a:r>
            <a:endParaRPr lang="en-CH" dirty="0"/>
          </a:p>
        </p:txBody>
      </p:sp>
      <p:sp>
        <p:nvSpPr>
          <p:cNvPr id="4" name="TextBox 3">
            <a:extLst>
              <a:ext uri="{FF2B5EF4-FFF2-40B4-BE49-F238E27FC236}">
                <a16:creationId xmlns:a16="http://schemas.microsoft.com/office/drawing/2014/main" id="{5980B4D4-79DD-7BB3-5054-81A239F1ED18}"/>
              </a:ext>
            </a:extLst>
          </p:cNvPr>
          <p:cNvSpPr txBox="1"/>
          <p:nvPr/>
        </p:nvSpPr>
        <p:spPr>
          <a:xfrm>
            <a:off x="164592" y="5885006"/>
            <a:ext cx="301686" cy="369332"/>
          </a:xfrm>
          <a:prstGeom prst="rect">
            <a:avLst/>
          </a:prstGeom>
          <a:noFill/>
        </p:spPr>
        <p:txBody>
          <a:bodyPr wrap="none" rtlCol="0">
            <a:spAutoFit/>
          </a:bodyPr>
          <a:lstStyle/>
          <a:p>
            <a:r>
              <a:rPr lang="en-US" dirty="0"/>
              <a:t>8</a:t>
            </a:r>
          </a:p>
        </p:txBody>
      </p:sp>
    </p:spTree>
    <p:extLst>
      <p:ext uri="{BB962C8B-B14F-4D97-AF65-F5344CB8AC3E}">
        <p14:creationId xmlns:p14="http://schemas.microsoft.com/office/powerpoint/2010/main" val="277922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00999-1270-F099-5522-21627F22218C}"/>
              </a:ext>
            </a:extLst>
          </p:cNvPr>
          <p:cNvSpPr>
            <a:spLocks noGrp="1"/>
          </p:cNvSpPr>
          <p:nvPr>
            <p:ph type="title"/>
          </p:nvPr>
        </p:nvSpPr>
        <p:spPr>
          <a:xfrm>
            <a:off x="790931" y="483839"/>
            <a:ext cx="9100128" cy="854076"/>
          </a:xfrm>
        </p:spPr>
        <p:txBody>
          <a:bodyPr/>
          <a:lstStyle/>
          <a:p>
            <a:r>
              <a:rPr lang="en-US" dirty="0"/>
              <a:t>NN new </a:t>
            </a:r>
            <a:r>
              <a:rPr lang="en-US" dirty="0" err="1"/>
              <a:t>achivements</a:t>
            </a:r>
            <a:endParaRPr lang="en-CH" dirty="0"/>
          </a:p>
        </p:txBody>
      </p:sp>
      <p:sp>
        <p:nvSpPr>
          <p:cNvPr id="3" name="Content Placeholder 2">
            <a:extLst>
              <a:ext uri="{FF2B5EF4-FFF2-40B4-BE49-F238E27FC236}">
                <a16:creationId xmlns:a16="http://schemas.microsoft.com/office/drawing/2014/main" id="{EA4E0FEA-FD49-74A1-918B-249AD63BCD0C}"/>
              </a:ext>
            </a:extLst>
          </p:cNvPr>
          <p:cNvSpPr>
            <a:spLocks noGrp="1"/>
          </p:cNvSpPr>
          <p:nvPr>
            <p:ph idx="1"/>
          </p:nvPr>
        </p:nvSpPr>
        <p:spPr>
          <a:xfrm>
            <a:off x="934196" y="2064123"/>
            <a:ext cx="10425953" cy="1777627"/>
          </a:xfrm>
        </p:spPr>
        <p:txBody>
          <a:bodyPr/>
          <a:lstStyle/>
          <a:p>
            <a:r>
              <a:rPr lang="en-US" dirty="0"/>
              <a:t>We have accuracy of about 20%. </a:t>
            </a:r>
            <a:r>
              <a:rPr lang="en-US" sz="1800" dirty="0"/>
              <a:t>The model often guesses only polyethylene, which is the most abundant. There are also samples from other groups such as Polyethylene Terephthalate which have similar spectra.</a:t>
            </a:r>
            <a:endParaRPr lang="en-US" sz="2400" dirty="0"/>
          </a:p>
          <a:p>
            <a:r>
              <a:rPr lang="en-US" dirty="0"/>
              <a:t>Tried to account for uneven distribution of groups.</a:t>
            </a:r>
            <a:r>
              <a:rPr lang="en-US" sz="2000" dirty="0"/>
              <a:t> So far, not good chances of guessing correctly the smaller groups. The validation loss gets low enough for the model to be satisfied with the correct polyethylene while not trying to get the other ones.</a:t>
            </a:r>
          </a:p>
        </p:txBody>
      </p:sp>
      <p:pic>
        <p:nvPicPr>
          <p:cNvPr id="5" name="Picture 4">
            <a:extLst>
              <a:ext uri="{FF2B5EF4-FFF2-40B4-BE49-F238E27FC236}">
                <a16:creationId xmlns:a16="http://schemas.microsoft.com/office/drawing/2014/main" id="{7DD83552-B6EB-600E-0822-4390A9CDCFC7}"/>
              </a:ext>
            </a:extLst>
          </p:cNvPr>
          <p:cNvPicPr>
            <a:picLocks noChangeAspect="1"/>
          </p:cNvPicPr>
          <p:nvPr/>
        </p:nvPicPr>
        <p:blipFill>
          <a:blip r:embed="rId2"/>
          <a:stretch>
            <a:fillRect/>
          </a:stretch>
        </p:blipFill>
        <p:spPr>
          <a:xfrm>
            <a:off x="7956769" y="4120543"/>
            <a:ext cx="3553321" cy="2095792"/>
          </a:xfrm>
          <a:prstGeom prst="rect">
            <a:avLst/>
          </a:prstGeom>
        </p:spPr>
      </p:pic>
      <p:graphicFrame>
        <p:nvGraphicFramePr>
          <p:cNvPr id="7" name="Diagram 6">
            <a:extLst>
              <a:ext uri="{FF2B5EF4-FFF2-40B4-BE49-F238E27FC236}">
                <a16:creationId xmlns:a16="http://schemas.microsoft.com/office/drawing/2014/main" id="{6016099B-A79D-937A-DECD-B4003880A1D8}"/>
              </a:ext>
            </a:extLst>
          </p:cNvPr>
          <p:cNvGraphicFramePr/>
          <p:nvPr>
            <p:extLst>
              <p:ext uri="{D42A27DB-BD31-4B8C-83A1-F6EECF244321}">
                <p14:modId xmlns:p14="http://schemas.microsoft.com/office/powerpoint/2010/main" val="1308060853"/>
              </p:ext>
            </p:extLst>
          </p:nvPr>
        </p:nvGraphicFramePr>
        <p:xfrm>
          <a:off x="984252" y="4375150"/>
          <a:ext cx="5264148" cy="12003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D8CE7F7B-4266-69D0-D26B-643554A770F7}"/>
              </a:ext>
            </a:extLst>
          </p:cNvPr>
          <p:cNvSpPr txBox="1"/>
          <p:nvPr/>
        </p:nvSpPr>
        <p:spPr>
          <a:xfrm>
            <a:off x="292608" y="6062472"/>
            <a:ext cx="301686" cy="369332"/>
          </a:xfrm>
          <a:prstGeom prst="rect">
            <a:avLst/>
          </a:prstGeom>
          <a:noFill/>
        </p:spPr>
        <p:txBody>
          <a:bodyPr wrap="none" rtlCol="0">
            <a:spAutoFit/>
          </a:bodyPr>
          <a:lstStyle/>
          <a:p>
            <a:r>
              <a:rPr lang="en-US" dirty="0"/>
              <a:t>9</a:t>
            </a:r>
          </a:p>
        </p:txBody>
      </p:sp>
    </p:spTree>
    <p:extLst>
      <p:ext uri="{BB962C8B-B14F-4D97-AF65-F5344CB8AC3E}">
        <p14:creationId xmlns:p14="http://schemas.microsoft.com/office/powerpoint/2010/main" val="3785260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8390B-989F-473E-AD40-13B43E508AA0}"/>
              </a:ext>
            </a:extLst>
          </p:cNvPr>
          <p:cNvSpPr>
            <a:spLocks noGrp="1"/>
          </p:cNvSpPr>
          <p:nvPr>
            <p:ph type="title"/>
          </p:nvPr>
        </p:nvSpPr>
        <p:spPr>
          <a:xfrm>
            <a:off x="477371" y="105634"/>
            <a:ext cx="10172094" cy="1252520"/>
          </a:xfrm>
        </p:spPr>
        <p:txBody>
          <a:bodyPr/>
          <a:lstStyle/>
          <a:p>
            <a:r>
              <a:rPr lang="en-US" dirty="0"/>
              <a:t>Future directions</a:t>
            </a:r>
            <a:endParaRPr lang="en-CH" dirty="0"/>
          </a:p>
        </p:txBody>
      </p:sp>
      <p:sp>
        <p:nvSpPr>
          <p:cNvPr id="3" name="Content Placeholder 2">
            <a:extLst>
              <a:ext uri="{FF2B5EF4-FFF2-40B4-BE49-F238E27FC236}">
                <a16:creationId xmlns:a16="http://schemas.microsoft.com/office/drawing/2014/main" id="{0151493E-AF8B-D85B-F8D4-EBA6E2F46396}"/>
              </a:ext>
            </a:extLst>
          </p:cNvPr>
          <p:cNvSpPr>
            <a:spLocks noGrp="1"/>
          </p:cNvSpPr>
          <p:nvPr>
            <p:ph idx="1"/>
          </p:nvPr>
        </p:nvSpPr>
        <p:spPr>
          <a:xfrm>
            <a:off x="638007" y="2212040"/>
            <a:ext cx="10172095" cy="3570493"/>
          </a:xfrm>
        </p:spPr>
        <p:txBody>
          <a:bodyPr/>
          <a:lstStyle/>
          <a:p>
            <a:r>
              <a:rPr lang="en-US" dirty="0"/>
              <a:t>Build a database:</a:t>
            </a:r>
          </a:p>
          <a:p>
            <a:pPr lvl="1"/>
            <a:r>
              <a:rPr lang="en-US" sz="2000" dirty="0"/>
              <a:t>About 20-50 samples for each plastic (at least)</a:t>
            </a:r>
          </a:p>
          <a:p>
            <a:pPr lvl="1"/>
            <a:r>
              <a:rPr lang="en-US" sz="2000" dirty="0"/>
              <a:t>For more field </a:t>
            </a:r>
            <a:r>
              <a:rPr lang="en-US" sz="2000" dirty="0" err="1"/>
              <a:t>deployability</a:t>
            </a:r>
            <a:r>
              <a:rPr lang="en-US" sz="2000" dirty="0"/>
              <a:t>, include samples n different conditions (microscopic, microscopic, in water)</a:t>
            </a:r>
          </a:p>
          <a:p>
            <a:pPr lvl="1"/>
            <a:r>
              <a:rPr lang="en-US" sz="2000" dirty="0"/>
              <a:t>Add information about the age of the sample (to be able to study this)</a:t>
            </a:r>
          </a:p>
          <a:p>
            <a:r>
              <a:rPr lang="en-US" dirty="0"/>
              <a:t>More uniformity of database is required.</a:t>
            </a:r>
            <a:r>
              <a:rPr lang="en-US" sz="2000" dirty="0"/>
              <a:t> The size is ok (20-50 per plastic), but it must be more uniform, and the </a:t>
            </a:r>
            <a:endParaRPr lang="en-US" dirty="0"/>
          </a:p>
        </p:txBody>
      </p:sp>
      <p:sp>
        <p:nvSpPr>
          <p:cNvPr id="4" name="TextBox 3">
            <a:extLst>
              <a:ext uri="{FF2B5EF4-FFF2-40B4-BE49-F238E27FC236}">
                <a16:creationId xmlns:a16="http://schemas.microsoft.com/office/drawing/2014/main" id="{18753EAB-B2FA-A95B-260D-E8A49413535C}"/>
              </a:ext>
            </a:extLst>
          </p:cNvPr>
          <p:cNvSpPr txBox="1"/>
          <p:nvPr/>
        </p:nvSpPr>
        <p:spPr>
          <a:xfrm>
            <a:off x="164592" y="5952744"/>
            <a:ext cx="418704" cy="369332"/>
          </a:xfrm>
          <a:prstGeom prst="rect">
            <a:avLst/>
          </a:prstGeom>
          <a:noFill/>
        </p:spPr>
        <p:txBody>
          <a:bodyPr wrap="none" rtlCol="0">
            <a:spAutoFit/>
          </a:bodyPr>
          <a:lstStyle/>
          <a:p>
            <a:r>
              <a:rPr lang="en-US" dirty="0"/>
              <a:t>10</a:t>
            </a:r>
          </a:p>
        </p:txBody>
      </p:sp>
    </p:spTree>
    <p:extLst>
      <p:ext uri="{BB962C8B-B14F-4D97-AF65-F5344CB8AC3E}">
        <p14:creationId xmlns:p14="http://schemas.microsoft.com/office/powerpoint/2010/main" val="1975967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C469D-60DB-FF41-BDB8-E240E95354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776F0F-D56E-0AF2-DDC8-D1166B42E1BD}"/>
              </a:ext>
            </a:extLst>
          </p:cNvPr>
          <p:cNvSpPr>
            <a:spLocks noGrp="1"/>
          </p:cNvSpPr>
          <p:nvPr>
            <p:ph type="title"/>
          </p:nvPr>
        </p:nvSpPr>
        <p:spPr>
          <a:xfrm>
            <a:off x="477371" y="105634"/>
            <a:ext cx="10172094" cy="1252520"/>
          </a:xfrm>
        </p:spPr>
        <p:txBody>
          <a:bodyPr/>
          <a:lstStyle/>
          <a:p>
            <a:r>
              <a:rPr lang="en-US" dirty="0"/>
              <a:t>In the past weeks</a:t>
            </a:r>
            <a:endParaRPr lang="en-CH" dirty="0"/>
          </a:p>
        </p:txBody>
      </p:sp>
      <p:sp>
        <p:nvSpPr>
          <p:cNvPr id="3" name="Content Placeholder 2">
            <a:extLst>
              <a:ext uri="{FF2B5EF4-FFF2-40B4-BE49-F238E27FC236}">
                <a16:creationId xmlns:a16="http://schemas.microsoft.com/office/drawing/2014/main" id="{3CCA1123-A137-7AEC-010B-9B44084341E2}"/>
              </a:ext>
            </a:extLst>
          </p:cNvPr>
          <p:cNvSpPr>
            <a:spLocks noGrp="1"/>
          </p:cNvSpPr>
          <p:nvPr>
            <p:ph idx="1"/>
          </p:nvPr>
        </p:nvSpPr>
        <p:spPr>
          <a:xfrm>
            <a:off x="638007" y="2212040"/>
            <a:ext cx="10172095" cy="3570493"/>
          </a:xfrm>
        </p:spPr>
        <p:txBody>
          <a:bodyPr/>
          <a:lstStyle/>
          <a:p>
            <a:r>
              <a:rPr lang="en-US" dirty="0"/>
              <a:t>Improved model</a:t>
            </a:r>
          </a:p>
          <a:p>
            <a:pPr lvl="1"/>
            <a:r>
              <a:rPr lang="en-US" sz="2000" dirty="0"/>
              <a:t>Still working with a “black box” model, but obtaining better results.</a:t>
            </a:r>
          </a:p>
          <a:p>
            <a:pPr marL="201168" lvl="1" indent="0">
              <a:buNone/>
            </a:pPr>
            <a:r>
              <a:rPr lang="en-US" sz="2000" dirty="0"/>
              <a:t>Improved accuracy for each type of plastic.</a:t>
            </a:r>
          </a:p>
          <a:p>
            <a:pPr marL="201168" lvl="1" indent="0">
              <a:buNone/>
            </a:pPr>
            <a:endParaRPr lang="en-US" sz="2200" dirty="0"/>
          </a:p>
          <a:p>
            <a:pPr marL="201168" lvl="1" indent="0">
              <a:buNone/>
            </a:pPr>
            <a:r>
              <a:rPr lang="en-US" sz="2000" dirty="0"/>
              <a:t>Writing the final report and presentation</a:t>
            </a:r>
          </a:p>
        </p:txBody>
      </p:sp>
      <p:sp>
        <p:nvSpPr>
          <p:cNvPr id="4" name="TextBox 3">
            <a:extLst>
              <a:ext uri="{FF2B5EF4-FFF2-40B4-BE49-F238E27FC236}">
                <a16:creationId xmlns:a16="http://schemas.microsoft.com/office/drawing/2014/main" id="{A02EC716-3AD3-7656-4253-D1CE398DADF1}"/>
              </a:ext>
            </a:extLst>
          </p:cNvPr>
          <p:cNvSpPr txBox="1"/>
          <p:nvPr/>
        </p:nvSpPr>
        <p:spPr>
          <a:xfrm>
            <a:off x="164592" y="5952744"/>
            <a:ext cx="418704" cy="369332"/>
          </a:xfrm>
          <a:prstGeom prst="rect">
            <a:avLst/>
          </a:prstGeom>
          <a:noFill/>
        </p:spPr>
        <p:txBody>
          <a:bodyPr wrap="none" rtlCol="0">
            <a:spAutoFit/>
          </a:bodyPr>
          <a:lstStyle/>
          <a:p>
            <a:r>
              <a:rPr lang="en-US" dirty="0"/>
              <a:t>10</a:t>
            </a:r>
          </a:p>
        </p:txBody>
      </p:sp>
    </p:spTree>
    <p:extLst>
      <p:ext uri="{BB962C8B-B14F-4D97-AF65-F5344CB8AC3E}">
        <p14:creationId xmlns:p14="http://schemas.microsoft.com/office/powerpoint/2010/main" val="207158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3367E-C837-6CB1-59CD-638601F43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3C08E3-D4E9-6CCB-B85D-6BF77B1025C6}"/>
              </a:ext>
            </a:extLst>
          </p:cNvPr>
          <p:cNvSpPr>
            <a:spLocks noGrp="1"/>
          </p:cNvSpPr>
          <p:nvPr>
            <p:ph type="title"/>
          </p:nvPr>
        </p:nvSpPr>
        <p:spPr>
          <a:xfrm>
            <a:off x="477371" y="105634"/>
            <a:ext cx="10172094" cy="1252520"/>
          </a:xfrm>
        </p:spPr>
        <p:txBody>
          <a:bodyPr/>
          <a:lstStyle/>
          <a:p>
            <a:r>
              <a:rPr lang="en-US" dirty="0"/>
              <a:t>“Final” Results </a:t>
            </a:r>
            <a:r>
              <a:rPr lang="en-US" sz="2800" dirty="0"/>
              <a:t>(as will be presented in the report)</a:t>
            </a:r>
            <a:endParaRPr lang="en-CH" dirty="0"/>
          </a:p>
        </p:txBody>
      </p:sp>
      <p:sp>
        <p:nvSpPr>
          <p:cNvPr id="3" name="Content Placeholder 2">
            <a:extLst>
              <a:ext uri="{FF2B5EF4-FFF2-40B4-BE49-F238E27FC236}">
                <a16:creationId xmlns:a16="http://schemas.microsoft.com/office/drawing/2014/main" id="{52277E9E-174E-6A6E-E3D5-F43E2DB6F618}"/>
              </a:ext>
            </a:extLst>
          </p:cNvPr>
          <p:cNvSpPr>
            <a:spLocks noGrp="1"/>
          </p:cNvSpPr>
          <p:nvPr>
            <p:ph idx="1"/>
          </p:nvPr>
        </p:nvSpPr>
        <p:spPr>
          <a:xfrm>
            <a:off x="638007" y="2212040"/>
            <a:ext cx="10172095" cy="3570493"/>
          </a:xfrm>
        </p:spPr>
        <p:txBody>
          <a:bodyPr/>
          <a:lstStyle/>
          <a:p>
            <a:r>
              <a:rPr lang="en-US" dirty="0"/>
              <a:t>An accuracy of 80% for the most present plastics:</a:t>
            </a:r>
          </a:p>
          <a:p>
            <a:pPr lvl="1"/>
            <a:r>
              <a:rPr lang="it-CH" dirty="0" err="1"/>
              <a:t>Polyethylene</a:t>
            </a:r>
            <a:r>
              <a:rPr lang="it-CH" dirty="0"/>
              <a:t>,</a:t>
            </a:r>
            <a:r>
              <a:rPr lang="en-US" sz="2000" dirty="0"/>
              <a:t> </a:t>
            </a:r>
            <a:r>
              <a:rPr lang="it-CH" dirty="0" err="1"/>
              <a:t>Polypropylene</a:t>
            </a:r>
            <a:r>
              <a:rPr lang="it-CH" dirty="0"/>
              <a:t>, </a:t>
            </a:r>
            <a:r>
              <a:rPr lang="it-CH" dirty="0" err="1"/>
              <a:t>Polystyrene</a:t>
            </a:r>
            <a:r>
              <a:rPr lang="it-CH" dirty="0"/>
              <a:t>, </a:t>
            </a:r>
            <a:r>
              <a:rPr lang="it-CH" dirty="0" err="1"/>
              <a:t>Polyester</a:t>
            </a:r>
            <a:r>
              <a:rPr lang="it-CH" dirty="0"/>
              <a:t>, </a:t>
            </a:r>
            <a:r>
              <a:rPr lang="it-CH" dirty="0" err="1"/>
              <a:t>Polyurethane</a:t>
            </a:r>
            <a:r>
              <a:rPr lang="it-CH" dirty="0"/>
              <a:t>, </a:t>
            </a:r>
            <a:r>
              <a:rPr lang="it-CH" dirty="0" err="1"/>
              <a:t>Polyamide</a:t>
            </a:r>
            <a:r>
              <a:rPr lang="it-CH" dirty="0"/>
              <a:t>, </a:t>
            </a:r>
            <a:r>
              <a:rPr lang="it-CH" dirty="0" err="1"/>
              <a:t>Polyvinyl</a:t>
            </a:r>
            <a:r>
              <a:rPr lang="it-CH" dirty="0"/>
              <a:t> </a:t>
            </a:r>
            <a:r>
              <a:rPr lang="it-CH" dirty="0" err="1"/>
              <a:t>Chloride</a:t>
            </a:r>
            <a:endParaRPr lang="it-CH" sz="1600" dirty="0"/>
          </a:p>
          <a:p>
            <a:r>
              <a:rPr lang="it-CH" dirty="0" err="1"/>
              <a:t>Plastics</a:t>
            </a:r>
            <a:r>
              <a:rPr lang="it-CH" dirty="0"/>
              <a:t> with </a:t>
            </a:r>
            <a:r>
              <a:rPr lang="it-CH" dirty="0" err="1"/>
              <a:t>less</a:t>
            </a:r>
            <a:r>
              <a:rPr lang="it-CH" dirty="0"/>
              <a:t> </a:t>
            </a:r>
            <a:r>
              <a:rPr lang="it-CH" dirty="0" err="1"/>
              <a:t>than</a:t>
            </a:r>
            <a:r>
              <a:rPr lang="it-CH" dirty="0"/>
              <a:t> 5 samples </a:t>
            </a:r>
            <a:r>
              <a:rPr lang="it-CH" dirty="0" err="1"/>
              <a:t>will</a:t>
            </a:r>
            <a:r>
              <a:rPr lang="it-CH" dirty="0"/>
              <a:t> </a:t>
            </a:r>
            <a:r>
              <a:rPr lang="it-CH" dirty="0" err="1"/>
              <a:t>have</a:t>
            </a:r>
            <a:r>
              <a:rPr lang="it-CH" dirty="0"/>
              <a:t> </a:t>
            </a:r>
            <a:r>
              <a:rPr lang="it-CH" dirty="0" err="1"/>
              <a:t>less</a:t>
            </a:r>
            <a:r>
              <a:rPr lang="it-CH" dirty="0"/>
              <a:t> </a:t>
            </a:r>
            <a:r>
              <a:rPr lang="it-CH" dirty="0" err="1"/>
              <a:t>than</a:t>
            </a:r>
            <a:r>
              <a:rPr lang="it-CH" dirty="0"/>
              <a:t> 50% </a:t>
            </a:r>
            <a:r>
              <a:rPr lang="it-CH" dirty="0" err="1"/>
              <a:t>accuracy</a:t>
            </a:r>
            <a:r>
              <a:rPr lang="it-CH" dirty="0"/>
              <a:t> and </a:t>
            </a:r>
            <a:r>
              <a:rPr lang="it-CH" dirty="0" err="1"/>
              <a:t>lower</a:t>
            </a:r>
            <a:r>
              <a:rPr lang="it-CH" dirty="0"/>
              <a:t>.</a:t>
            </a:r>
            <a:endParaRPr lang="en-US" dirty="0"/>
          </a:p>
          <a:p>
            <a:endParaRPr lang="en-US" dirty="0"/>
          </a:p>
          <a:p>
            <a:r>
              <a:rPr lang="en-US" dirty="0"/>
              <a:t>I am currently writing the protocols/guidelines for usage so that the application is more user friendly.</a:t>
            </a:r>
          </a:p>
        </p:txBody>
      </p:sp>
      <p:sp>
        <p:nvSpPr>
          <p:cNvPr id="4" name="TextBox 3">
            <a:extLst>
              <a:ext uri="{FF2B5EF4-FFF2-40B4-BE49-F238E27FC236}">
                <a16:creationId xmlns:a16="http://schemas.microsoft.com/office/drawing/2014/main" id="{92F414E6-B2B5-3592-BDC4-F60C4BD37D7D}"/>
              </a:ext>
            </a:extLst>
          </p:cNvPr>
          <p:cNvSpPr txBox="1"/>
          <p:nvPr/>
        </p:nvSpPr>
        <p:spPr>
          <a:xfrm>
            <a:off x="164592" y="5952744"/>
            <a:ext cx="418704" cy="369332"/>
          </a:xfrm>
          <a:prstGeom prst="rect">
            <a:avLst/>
          </a:prstGeom>
          <a:noFill/>
        </p:spPr>
        <p:txBody>
          <a:bodyPr wrap="none" rtlCol="0">
            <a:spAutoFit/>
          </a:bodyPr>
          <a:lstStyle/>
          <a:p>
            <a:r>
              <a:rPr lang="en-US" dirty="0"/>
              <a:t>10</a:t>
            </a:r>
          </a:p>
        </p:txBody>
      </p:sp>
    </p:spTree>
    <p:extLst>
      <p:ext uri="{BB962C8B-B14F-4D97-AF65-F5344CB8AC3E}">
        <p14:creationId xmlns:p14="http://schemas.microsoft.com/office/powerpoint/2010/main" val="2773046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26C44-3AC5-F196-D6CC-83B17283C3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8DC16-2331-4B5A-7E84-9E4392C96334}"/>
              </a:ext>
            </a:extLst>
          </p:cNvPr>
          <p:cNvSpPr>
            <a:spLocks noGrp="1"/>
          </p:cNvSpPr>
          <p:nvPr>
            <p:ph type="title"/>
          </p:nvPr>
        </p:nvSpPr>
        <p:spPr>
          <a:xfrm>
            <a:off x="477371" y="105634"/>
            <a:ext cx="10172094" cy="1252520"/>
          </a:xfrm>
        </p:spPr>
        <p:txBody>
          <a:bodyPr/>
          <a:lstStyle/>
          <a:p>
            <a:r>
              <a:rPr lang="en-US" dirty="0"/>
              <a:t>Continuous support</a:t>
            </a:r>
            <a:endParaRPr lang="en-CH" dirty="0"/>
          </a:p>
        </p:txBody>
      </p:sp>
      <p:sp>
        <p:nvSpPr>
          <p:cNvPr id="3" name="Content Placeholder 2">
            <a:extLst>
              <a:ext uri="{FF2B5EF4-FFF2-40B4-BE49-F238E27FC236}">
                <a16:creationId xmlns:a16="http://schemas.microsoft.com/office/drawing/2014/main" id="{05E99512-C8C8-5C90-01D8-DF45FB7DACA9}"/>
              </a:ext>
            </a:extLst>
          </p:cNvPr>
          <p:cNvSpPr>
            <a:spLocks noGrp="1"/>
          </p:cNvSpPr>
          <p:nvPr>
            <p:ph idx="1"/>
          </p:nvPr>
        </p:nvSpPr>
        <p:spPr>
          <a:xfrm>
            <a:off x="638007" y="2212040"/>
            <a:ext cx="10172095" cy="3570493"/>
          </a:xfrm>
        </p:spPr>
        <p:txBody>
          <a:bodyPr/>
          <a:lstStyle/>
          <a:p>
            <a:r>
              <a:rPr lang="en-US" dirty="0"/>
              <a:t>I plan to still make new modifications to the application</a:t>
            </a:r>
          </a:p>
          <a:p>
            <a:pPr lvl="1"/>
            <a:r>
              <a:rPr lang="en-US" sz="2000" dirty="0"/>
              <a:t>Due to unpredicted and unwanted behavior of application</a:t>
            </a:r>
          </a:p>
          <a:p>
            <a:pPr lvl="1"/>
            <a:r>
              <a:rPr lang="en-US" sz="2000" dirty="0"/>
              <a:t>To make further changes or help with database</a:t>
            </a:r>
          </a:p>
          <a:p>
            <a:pPr lvl="1"/>
            <a:r>
              <a:rPr lang="en-US" sz="2000" dirty="0"/>
              <a:t>Prepare for expeditions, and talked with one possible future student</a:t>
            </a:r>
          </a:p>
          <a:p>
            <a:pPr lvl="1"/>
            <a:endParaRPr lang="en-US" dirty="0"/>
          </a:p>
          <a:p>
            <a:r>
              <a:rPr lang="en-US" dirty="0"/>
              <a:t>For the protocols and how to use, there may be some errors and it’s easier to passage the knowledge by writing up to date protocols</a:t>
            </a:r>
          </a:p>
        </p:txBody>
      </p:sp>
      <p:sp>
        <p:nvSpPr>
          <p:cNvPr id="4" name="TextBox 3">
            <a:extLst>
              <a:ext uri="{FF2B5EF4-FFF2-40B4-BE49-F238E27FC236}">
                <a16:creationId xmlns:a16="http://schemas.microsoft.com/office/drawing/2014/main" id="{01035ED0-426B-6BF9-7F0A-E815E6EA2716}"/>
              </a:ext>
            </a:extLst>
          </p:cNvPr>
          <p:cNvSpPr txBox="1"/>
          <p:nvPr/>
        </p:nvSpPr>
        <p:spPr>
          <a:xfrm>
            <a:off x="164592" y="5952744"/>
            <a:ext cx="418704" cy="369332"/>
          </a:xfrm>
          <a:prstGeom prst="rect">
            <a:avLst/>
          </a:prstGeom>
          <a:noFill/>
        </p:spPr>
        <p:txBody>
          <a:bodyPr wrap="none" rtlCol="0">
            <a:spAutoFit/>
          </a:bodyPr>
          <a:lstStyle/>
          <a:p>
            <a:r>
              <a:rPr lang="en-US" dirty="0"/>
              <a:t>10</a:t>
            </a:r>
          </a:p>
        </p:txBody>
      </p:sp>
    </p:spTree>
    <p:extLst>
      <p:ext uri="{BB962C8B-B14F-4D97-AF65-F5344CB8AC3E}">
        <p14:creationId xmlns:p14="http://schemas.microsoft.com/office/powerpoint/2010/main" val="52981141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69</TotalTime>
  <Words>873</Words>
  <Application>Microsoft Office PowerPoint</Application>
  <PresentationFormat>Widescreen</PresentationFormat>
  <Paragraphs>82</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Calibri</vt:lpstr>
      <vt:lpstr>Calibri Light</vt:lpstr>
      <vt:lpstr>Retrospect</vt:lpstr>
      <vt:lpstr>Implementation of a spectrum classifier neural network</vt:lpstr>
      <vt:lpstr>Steps for proper development:</vt:lpstr>
      <vt:lpstr>Data analysis</vt:lpstr>
      <vt:lpstr>Sample grouping</vt:lpstr>
      <vt:lpstr>PowerPoint Presentation</vt:lpstr>
      <vt:lpstr>Comments on the plots</vt:lpstr>
      <vt:lpstr>Some clustering</vt:lpstr>
      <vt:lpstr>Comments on clusters</vt:lpstr>
      <vt:lpstr>NN new achivements</vt:lpstr>
      <vt:lpstr>Future directions</vt:lpstr>
      <vt:lpstr>In the past weeks</vt:lpstr>
      <vt:lpstr>“Final” Results (as will be presented in the report)</vt:lpstr>
      <vt:lpstr>Continuous support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Antonio Del Priore Antunes</dc:creator>
  <cp:lastModifiedBy>Antonio Del Priore Antunes</cp:lastModifiedBy>
  <cp:revision>13</cp:revision>
  <dcterms:created xsi:type="dcterms:W3CDTF">2025-10-09T20:24:01Z</dcterms:created>
  <dcterms:modified xsi:type="dcterms:W3CDTF">2026-01-16T09:09:11Z</dcterms:modified>
</cp:coreProperties>
</file>